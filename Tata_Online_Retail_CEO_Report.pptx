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85B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Identified (£8.91M)</c:v>
                </c:pt>
                <c:pt idx="1">
                  <c:v>Guest (£1.76M)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8.91</c:v>
                </c:pt>
                <c:pt idx="1">
                  <c:v>1.76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85B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UK (£9.03M)</c:v>
                </c:pt>
                <c:pt idx="1">
                  <c:v>International (£1.64M)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9.03</c:v>
                </c:pt>
                <c:pt idx="1">
                  <c:v>1.64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ONLINE RETAIL STORE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Executive Report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32004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December 2010 — December 2011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 &amp; validated  |  397,924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£10.67M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370332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19,960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6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70332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4,339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703320"/>
            <a:ext cx="192024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7673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£534.40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CEO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Online Retail generated £10.67M in revenue across 19,960 unique orders during the December 2010 to December 2011 trading period. The business is fundamentally healthy — 65.59% of identified customers are repeat buyers who drive 94.22% of all revenue, confirming that customer loyalty is the core engine of growth. The average order value of £534.40 signals strong basket sizes. However three critical risks demand immediate strategic attention: an 84.61% concentration of revenue in the United Kingdom, £1.76M in completely untracked guest checkout revenue, and extreme Q4 seasonality where November alone accounts for £1.46M while February drops to £0.52M. International markets — led by Netherlands, EIRE and Germany — represent the clearest near-term expansion opportunity.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32461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3246120"/>
            <a:ext cx="27432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46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35844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84.61% UK revenue concentration — single market dependency is a strategic vulnerability.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32461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3246120"/>
            <a:ext cx="2743200" cy="29260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3246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82696" y="35844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£1.76M guest revenue untracked — zero retention or remarketing possible for this segment.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324612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3246120"/>
            <a:ext cx="2743200" cy="292608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2461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Opportunity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344" y="3584448"/>
            <a:ext cx="2523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revenue at only 15.39% — Europe shows strong demand signals for expansion.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Health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2560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65.59%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207568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customers buy more than once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04872" y="9601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960120"/>
            <a:ext cx="2011680" cy="2560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04872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96312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Revenue Share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78024" y="207568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buyers drive nearly all revenue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81144" y="9601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960120"/>
            <a:ext cx="20116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81144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84.61%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72584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Concentration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54296" y="207568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a single market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57416" y="96012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57416" y="960120"/>
            <a:ext cx="2011680" cy="2560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57416" y="1234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48856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Loss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30568" y="207568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fully cleaned — no returns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6517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651760"/>
            <a:ext cx="2011680" cy="256032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651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£1.76M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20040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Revenue Untracked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1752" y="376732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ID attached to this revenue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04872" y="26517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04872" y="2651760"/>
            <a:ext cx="2011680" cy="2560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04872" y="2651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404872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£534.40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2496312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78024" y="376732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basket size per transaction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81144" y="2651760"/>
            <a:ext cx="2011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81144" y="2651760"/>
            <a:ext cx="2011680" cy="25603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81144" y="2651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81144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3,812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672584" y="3456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54296" y="376732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product catalogue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— 2011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852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4251960"/>
            <a:ext cx="53035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1148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£0.0M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40080" y="3451860"/>
            <a:ext cx="53035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3147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£0.4M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3035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146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£0.8M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851660"/>
            <a:ext cx="53035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145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£1.2M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1051560"/>
            <a:ext cx="530352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91440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£1.6M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58368" y="3131820"/>
            <a:ext cx="405384" cy="112014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0322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£0.56M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100328" y="3211830"/>
            <a:ext cx="405384" cy="1040130"/>
          </a:xfrm>
          <a:prstGeom prst="rect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2040" y="298323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£0.52M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08204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42288" y="2891790"/>
            <a:ext cx="405384" cy="136017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24000" y="266319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£0.68M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52400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984248" y="3271838"/>
            <a:ext cx="405384" cy="980122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3043238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£0.49M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96596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426208" y="2811780"/>
            <a:ext cx="405384" cy="14401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7920" y="25831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£0.72M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40792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868168" y="2871788"/>
            <a:ext cx="405384" cy="1380173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9880" y="2643188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£0.69M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84988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310128" y="2891790"/>
            <a:ext cx="405384" cy="136017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66319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£0.68M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9184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752088" y="2891790"/>
            <a:ext cx="405384" cy="136017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33800" y="266319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£0.68M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373380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94048" y="2211705"/>
            <a:ext cx="405384" cy="2040255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75760" y="1983105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£1.02M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17576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636008" y="2111693"/>
            <a:ext cx="405384" cy="2140267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1883093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£1.07M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61772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077968" y="1331595"/>
            <a:ext cx="405384" cy="292036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59680" y="1102995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£1.46M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05968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519928" y="3391853"/>
            <a:ext cx="405384" cy="860107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01640" y="3163253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£0.43M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5501640" y="4297680"/>
            <a:ext cx="441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263640" y="868680"/>
            <a:ext cx="26060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263640" y="868680"/>
            <a:ext cx="260604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82512" y="135331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Nov peak of £1.46M driven by holiday season demand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1828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Feb lowest at £0.52M — weakest month of the year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82512" y="230428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Flat trading Jan–Aug averaging ~£650K/month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82512" y="2779776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Sharp surge from Sep onwards — Q4 effect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82512" y="325526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 Q4 alone = ~40% of full year revenue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82512" y="373075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Dec shows only 9 days — not a real sales drop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Type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84048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customers generate £8.91M (83.54%) of revenue. Guest checkouts represent £1.76M with zero customer profiling — making retention and remarketing impossible for this segment.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86868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solidFill>
            <a:srgbClr val="1A8A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Revenue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45152" y="135331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14646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13248" y="1389888"/>
            <a:ext cx="2743200" cy="18288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02168" y="13533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£280K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45152" y="16824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18102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13248" y="1719072"/>
            <a:ext cx="2547257" cy="18288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6225" y="16824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£260K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5152" y="201168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17450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413248" y="2048256"/>
            <a:ext cx="1949631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8599" y="20116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£199K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45152" y="234086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16446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413248" y="2377440"/>
            <a:ext cx="1645920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04888" y="23408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£168K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45152" y="267004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14911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13248" y="2706624"/>
            <a:ext cx="1410789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69757" y="26700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£144K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45152" y="299923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12415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13248" y="3035808"/>
            <a:ext cx="1224643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83611" y="29992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£125K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645152" y="332841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14156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413248" y="3364992"/>
            <a:ext cx="1146266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05234" y="33284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£117K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5152" y="365760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17511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413248" y="3694176"/>
            <a:ext cx="891540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50508" y="36576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£91K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45152" y="398678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16029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413248" y="4023360"/>
            <a:ext cx="793569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52537" y="39867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£81K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645152" y="4315968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12346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413248" y="4352544"/>
            <a:ext cx="754380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3348" y="43159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£77K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Markets &amp; Expansion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347472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Market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3200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84048" y="4005072"/>
            <a:ext cx="3255264" cy="59436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041648"/>
            <a:ext cx="30723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84.61% UK dependency is a concentration risk. A structured international expansion strategy is needed urgently.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31920" y="868680"/>
            <a:ext cx="4937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931920" y="868680"/>
            <a:ext cx="4937760" cy="347472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Revenue (excl. UK)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005072" y="13533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74920" y="1389888"/>
            <a:ext cx="310896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38744" y="13533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£285K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05072" y="168249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074920" y="1719072"/>
            <a:ext cx="2860243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90027" y="16824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£263K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005072" y="20116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74920" y="2048256"/>
            <a:ext cx="2424989" cy="182880"/>
          </a:xfrm>
          <a:prstGeom prst="rect">
            <a:avLst/>
          </a:prstGeom>
          <a:solidFill>
            <a:srgbClr val="2D5F96"/>
          </a:solidFill>
          <a:ln w="12700">
            <a:solidFill>
              <a:srgbClr val="2D5F9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54773" y="2011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£222K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005072" y="23408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074920" y="2377440"/>
            <a:ext cx="2145182" cy="182880"/>
          </a:xfrm>
          <a:prstGeom prst="rect">
            <a:avLst/>
          </a:prstGeom>
          <a:solidFill>
            <a:srgbClr val="2D5F96"/>
          </a:solidFill>
          <a:ln w="12700">
            <a:solidFill>
              <a:srgbClr val="2D5F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74966" y="23408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£197K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005072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74920" y="2706624"/>
            <a:ext cx="1492301" cy="182880"/>
          </a:xfrm>
          <a:prstGeom prst="rect">
            <a:avLst/>
          </a:prstGeom>
          <a:solidFill>
            <a:srgbClr val="4A86C8"/>
          </a:solidFill>
          <a:ln w="12700">
            <a:solidFill>
              <a:srgbClr val="4A86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2085" y="26700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£137K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005072" y="29992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74920" y="3035808"/>
            <a:ext cx="621792" cy="182880"/>
          </a:xfrm>
          <a:prstGeom prst="rect">
            <a:avLst/>
          </a:prstGeom>
          <a:solidFill>
            <a:srgbClr val="4A86C8"/>
          </a:solidFill>
          <a:ln w="12700">
            <a:solidFill>
              <a:srgbClr val="4A86C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51576" y="29992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£56K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005072" y="33284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74920" y="3364992"/>
            <a:ext cx="590702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20486" y="33284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£55K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005072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Belgium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074920" y="3694176"/>
            <a:ext cx="435254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65038" y="36576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£41K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005072" y="39867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074920" y="4023360"/>
            <a:ext cx="404165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33949" y="3986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£37K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005072" y="43159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074920" y="4352544"/>
            <a:ext cx="373075" cy="182880"/>
          </a:xfrm>
          <a:prstGeom prst="rect">
            <a:avLst/>
          </a:prstGeom>
          <a:solidFill>
            <a:srgbClr val="85B7E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02859" y="43159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&amp; Revenue Drivers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6692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68680"/>
            <a:ext cx="5669280" cy="347472"/>
          </a:xfrm>
          <a:prstGeom prst="rect">
            <a:avLst/>
          </a:prstGeom>
          <a:solidFill>
            <a:srgbClr val="D482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Cakestand 3 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840480" cy="201168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6733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£174K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Craft Little Birdie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258568"/>
            <a:ext cx="3725266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9898" y="224028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£168K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5511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Hanging Heart T-Light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825496"/>
            <a:ext cx="2342693" cy="201168"/>
          </a:xfrm>
          <a:prstGeom prst="rect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7325" y="28072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£106K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18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Bunting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392424"/>
            <a:ext cx="2189074" cy="201168"/>
          </a:xfrm>
          <a:prstGeom prst="rect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3706" y="337413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6850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Bag Red Retrospot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959352"/>
            <a:ext cx="2073859" cy="201168"/>
          </a:xfrm>
          <a:prstGeom prst="rect">
            <a:avLst/>
          </a:prstGeom>
          <a:solidFill>
            <a:srgbClr val="E8A030"/>
          </a:solidFill>
          <a:ln w="12700">
            <a:solidFill>
              <a:srgbClr val="E8A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58491" y="39410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£94K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868680"/>
            <a:ext cx="2743200" cy="347472"/>
          </a:xfrm>
          <a:prstGeom prst="rect">
            <a:avLst/>
          </a:prstGeom>
          <a:solidFill>
            <a:srgbClr val="D4820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6208" y="1371600"/>
            <a:ext cx="54864" cy="320040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13533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SKUs drive £642K combined revenue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6208" y="1901952"/>
            <a:ext cx="54864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8836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Regency Cakestand &amp; Paper Craft Birdie are near-equal top performers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36208" y="2432304"/>
            <a:ext cx="54864" cy="320040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24140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products winning from marketing or despite low investment?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36208" y="2962656"/>
            <a:ext cx="54864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29443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Cross-selling to buyers of these SKUs could lift basket value significantly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36208" y="3493008"/>
            <a:ext cx="54864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474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DOTCOM POSTAGE excluded — it inflates revenue if included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60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Reduce UK Market Dependency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0" y="969264"/>
            <a:ext cx="59436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96926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structured international expansion targeting Netherlands, EIRE and Germany first. Set a 3-year target to reduce UK revenue share from 84.61% to below 70%. These three markets already show organic demand without dedicated marketing.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914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Convert Guest Checkouts to Accounts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969264"/>
            <a:ext cx="59436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96926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92040" y="132588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£1.76M in guest revenue is completely untracked. Implement a post-purchase account creation prompt and incentivise registration with 5% loyalty discount. Even converting 30% of guests unlocks £528K in retargetable revenue.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4160520" cy="347472"/>
          </a:xfrm>
          <a:prstGeom prst="rect">
            <a:avLst/>
          </a:prstGeom>
          <a:solidFill>
            <a:srgbClr val="1A8A5A"/>
          </a:solidFill>
          <a:ln w="12700">
            <a:solidFill>
              <a:srgbClr val="1A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971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Protect Top 10 Customer Relationships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3026664"/>
            <a:ext cx="59436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02666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1480" y="338328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customers alone account for £540K. Assign dedicated account managers to the top 10 customers. Introduce a VIP loyalty tier with priority service and early product access to prevent churn.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41605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9718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Plan for Q4 Seasonality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3026664"/>
            <a:ext cx="594360" cy="237744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02666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annual revenue falls in Q4. Build a Q1-Q3 demand stimulation campaign calendar to flatten the revenue curve. Ensure inventory, logistics and staffing are scaled up by September each year.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4904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profitable and growing with strong repeat customer loyalty at 65.59%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39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02082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concentration at 84.61% is the single biggest strategic risk — diversification is overdue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9464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94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55117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£1.76M in guest revenue represents a significant missed retention opportunity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0815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drive a disproportionate share of revenue and must be actively protected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01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3611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seasonality is extreme — operational and marketing planning must reflect this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201168" cy="20116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41422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markets show real demand — expansion into Europe is the clearest growth path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Data Analytics Team  |  Tata Online Retail Store  |  2011 Annual Review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Online Retail — CEO Executive Report</dc:title>
  <dc:subject>PptxGenJS Presentation</dc:subject>
  <dc:creator>PptxGenJS</dc:creator>
  <cp:lastModifiedBy>PptxGenJS</cp:lastModifiedBy>
  <cp:revision>1</cp:revision>
  <dcterms:created xsi:type="dcterms:W3CDTF">2026-04-04T18:37:42Z</dcterms:created>
  <dcterms:modified xsi:type="dcterms:W3CDTF">2026-04-04T18:37:42Z</dcterms:modified>
</cp:coreProperties>
</file>